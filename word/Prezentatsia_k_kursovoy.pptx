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3"/>
  </p:notesMasterIdLst>
  <p:handoutMasterIdLst>
    <p:handoutMasterId r:id="rId14"/>
  </p:handoutMasterIdLst>
  <p:sldIdLst>
    <p:sldId id="280" r:id="rId2"/>
    <p:sldId id="279" r:id="rId3"/>
    <p:sldId id="281" r:id="rId4"/>
    <p:sldId id="282" r:id="rId5"/>
    <p:sldId id="283" r:id="rId6"/>
    <p:sldId id="285" r:id="rId7"/>
    <p:sldId id="286" r:id="rId8"/>
    <p:sldId id="287" r:id="rId9"/>
    <p:sldId id="288" r:id="rId10"/>
    <p:sldId id="289" r:id="rId11"/>
    <p:sldId id="29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7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4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22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78C66-485C-4623-8A55-EFEC6A686AD1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6EAA8-B540-44EB-BD4E-6ACD8D7146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13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B6421C-91A7-42F4-8DD0-E1503AEACE13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6826C-F936-4E7E-9B48-528FC76461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094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6826C-F936-4E7E-9B48-528FC764618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882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6826C-F936-4E7E-9B48-528FC764618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775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"/>
            <a:ext cx="12192000" cy="685628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2256" y="1676401"/>
            <a:ext cx="10961915" cy="3211286"/>
          </a:xfrm>
        </p:spPr>
        <p:txBody>
          <a:bodyPr anchor="ctr"/>
          <a:lstStyle>
            <a:lvl1pPr algn="ctr">
              <a:defRPr sz="60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42256" y="5094514"/>
            <a:ext cx="10961915" cy="1016726"/>
          </a:xfrm>
        </p:spPr>
        <p:txBody>
          <a:bodyPr anchor="ctr"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65813" y="6436470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025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6448" y="1463040"/>
            <a:ext cx="11228832" cy="471392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2292096" y="304801"/>
            <a:ext cx="9473184" cy="927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020617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1104" y="1545771"/>
            <a:ext cx="5568696" cy="463119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545771"/>
            <a:ext cx="5593080" cy="463119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292096" y="304801"/>
            <a:ext cx="9473184" cy="927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75302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2292096" y="304801"/>
            <a:ext cx="9473184" cy="927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8153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504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300" y="1475232"/>
            <a:ext cx="6172200" cy="4669536"/>
          </a:xfrm>
        </p:spPr>
        <p:txBody>
          <a:bodyPr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888481" y="1475232"/>
            <a:ext cx="4876800" cy="46695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2292096" y="304801"/>
            <a:ext cx="9473184" cy="927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45239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92096" y="304801"/>
            <a:ext cx="9473184" cy="92789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75488" y="1475232"/>
            <a:ext cx="11289792" cy="4701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2080" y="64194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</a:defRPr>
            </a:lvl1pPr>
          </a:lstStyle>
          <a:p>
            <a:fld id="{9703D75F-3C8C-4373-9499-703616C11FA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2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0" r:id="rId3"/>
    <p:sldLayoutId id="2147483702" r:id="rId4"/>
    <p:sldLayoutId id="2147483703" r:id="rId5"/>
    <p:sldLayoutId id="2147483704" r:id="rId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Курсовая работа по теме:</a:t>
            </a:r>
            <a:br>
              <a:rPr lang="ru-RU" sz="4000" dirty="0"/>
            </a:br>
            <a:r>
              <a:rPr lang="ru-RU" sz="4000" dirty="0" smtClean="0"/>
              <a:t>«</a:t>
            </a:r>
            <a:r>
              <a:rPr lang="ru-RU" sz="4400" dirty="0"/>
              <a:t>Разработка программного обеспечения «Туристические путевки»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Выполнила: </a:t>
            </a:r>
            <a:r>
              <a:rPr lang="ru-RU" dirty="0" err="1" smtClean="0"/>
              <a:t>Новака</a:t>
            </a:r>
            <a:r>
              <a:rPr lang="ru-RU" dirty="0" smtClean="0"/>
              <a:t> С.С</a:t>
            </a:r>
            <a:endParaRPr lang="ru-RU" dirty="0"/>
          </a:p>
          <a:p>
            <a:r>
              <a:rPr lang="ru-RU" dirty="0"/>
              <a:t>Студент группы П-340</a:t>
            </a:r>
          </a:p>
        </p:txBody>
      </p:sp>
      <p:sp>
        <p:nvSpPr>
          <p:cNvPr id="4" name="Заголовок 9"/>
          <p:cNvSpPr txBox="1">
            <a:spLocks/>
          </p:cNvSpPr>
          <p:nvPr/>
        </p:nvSpPr>
        <p:spPr>
          <a:xfrm>
            <a:off x="1524000" y="6423240"/>
            <a:ext cx="9144000" cy="36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Челябинск, 2024</a:t>
            </a:r>
          </a:p>
        </p:txBody>
      </p:sp>
    </p:spTree>
    <p:extLst>
      <p:ext uri="{BB962C8B-B14F-4D97-AF65-F5344CB8AC3E}">
        <p14:creationId xmlns:p14="http://schemas.microsoft.com/office/powerpoint/2010/main" val="53820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191892" y="1283654"/>
            <a:ext cx="8453522" cy="4713923"/>
          </a:xfrm>
        </p:spPr>
        <p:txBody>
          <a:bodyPr>
            <a:normAutofit fontScale="77500" lnSpcReduction="20000"/>
          </a:bodyPr>
          <a:lstStyle/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 smtClean="0"/>
              <a:t>Проблемы </a:t>
            </a:r>
            <a:r>
              <a:rPr lang="ru-RU" b="1" dirty="0"/>
              <a:t>отрасли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Современные туристические агентства сталкиваются с трудностями в привлечении клиентов, обработке больших объёмов данных и управлении продажами вручную.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Цель и задачи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Разработать автоматизированную ИС для учёта продаж путёвок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Проанализировать предметную область и требования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Спроектировать базу данных и интерфейс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Реализовать ключевой функционал системы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304287" y="304800"/>
            <a:ext cx="9441587" cy="978854"/>
          </a:xfrm>
        </p:spPr>
        <p:txBody>
          <a:bodyPr>
            <a:normAutofit fontScale="90000"/>
          </a:bodyPr>
          <a:lstStyle/>
          <a:p>
            <a:r>
              <a:rPr lang="ru-RU" dirty="0"/>
              <a:t>Введение: Актуальность и Цели Проекта</a:t>
            </a:r>
            <a:br>
              <a:rPr lang="ru-RU" dirty="0"/>
            </a:b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900160" y="6443435"/>
            <a:ext cx="2743200" cy="365125"/>
          </a:xfrm>
        </p:spPr>
        <p:txBody>
          <a:bodyPr/>
          <a:lstStyle/>
          <a:p>
            <a:fld id="{9703D75F-3C8C-4373-9499-703616C11FAA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8203CA-99D9-4900-B2E7-785AA84AC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648" y="1283654"/>
            <a:ext cx="3100460" cy="474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4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67712" y="272143"/>
            <a:ext cx="9497568" cy="1099457"/>
          </a:xfrm>
        </p:spPr>
        <p:txBody>
          <a:bodyPr>
            <a:normAutofit/>
          </a:bodyPr>
          <a:lstStyle/>
          <a:p>
            <a:r>
              <a:rPr lang="ru-RU" dirty="0"/>
              <a:t>Анализ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125585" y="1580922"/>
            <a:ext cx="8639695" cy="4631192"/>
          </a:xfrm>
        </p:spPr>
        <p:txBody>
          <a:bodyPr>
            <a:normAutofit fontScale="70000" lnSpcReduction="20000"/>
          </a:bodyPr>
          <a:lstStyle/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Обзор существующих решений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Анализ веб-приложений и баз данных, применяемых в туристических агентствах: их возможности, ограничения и применимость для учебного проекта.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Целевая аудитория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Клиенты, менеджеры по продажам и руководство агентства — каждая группа предъявляет особые требования к функциональности системы.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Ключевые бизнес-процессы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Бронирование и продажа путёвок, ведение клиентской базы, формирование аналитических отчётов по продажам и направлениям.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9022080" y="6421439"/>
            <a:ext cx="2743200" cy="365125"/>
          </a:xfrm>
        </p:spPr>
        <p:txBody>
          <a:bodyPr/>
          <a:lstStyle/>
          <a:p>
            <a:fld id="{9703D75F-3C8C-4373-9499-703616C11FAA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210213-1CE1-4DE7-93EC-31560384E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5" y="1437320"/>
            <a:ext cx="2743200" cy="491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1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776" y="4386796"/>
            <a:ext cx="3202775" cy="240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8672" y="365125"/>
            <a:ext cx="9448800" cy="106133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Проектирование Базы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4"/>
          </p:nvPr>
        </p:nvSpPr>
        <p:spPr>
          <a:xfrm>
            <a:off x="9034272" y="6443436"/>
            <a:ext cx="2743200" cy="365125"/>
          </a:xfrm>
        </p:spPr>
        <p:txBody>
          <a:bodyPr/>
          <a:lstStyle/>
          <a:p>
            <a:fld id="{9703D75F-3C8C-4373-9499-703616C11FAA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23E1CC-EFAC-4D32-89CD-4E3DB5495085}"/>
              </a:ext>
            </a:extLst>
          </p:cNvPr>
          <p:cNvSpPr/>
          <p:nvPr/>
        </p:nvSpPr>
        <p:spPr>
          <a:xfrm>
            <a:off x="110282" y="1276834"/>
            <a:ext cx="11667190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800" b="1" dirty="0" smtClean="0"/>
              <a:t>Физическая </a:t>
            </a:r>
            <a:r>
              <a:rPr lang="ru-RU" sz="2800" b="1" dirty="0"/>
              <a:t>модель данных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dirty="0"/>
              <a:t>Каждая сущность реализована в виде таблицы с первичными и внешними ключами для обеспечения целостности данных.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b="1" dirty="0"/>
              <a:t>Таблица «Путевка»:</a:t>
            </a:r>
            <a:r>
              <a:rPr lang="ru-RU" sz="2800" dirty="0"/>
              <a:t> </a:t>
            </a:r>
            <a:r>
              <a:rPr lang="ru-RU" sz="2800" dirty="0" err="1"/>
              <a:t>КодПутевки</a:t>
            </a:r>
            <a:r>
              <a:rPr lang="ru-RU" sz="2800" dirty="0"/>
              <a:t>, </a:t>
            </a:r>
            <a:r>
              <a:rPr lang="ru-RU" sz="2800" dirty="0" err="1"/>
              <a:t>КодКлиента</a:t>
            </a:r>
            <a:r>
              <a:rPr lang="ru-RU" sz="2800" dirty="0"/>
              <a:t>, </a:t>
            </a:r>
            <a:r>
              <a:rPr lang="ru-RU" sz="2800" dirty="0" err="1"/>
              <a:t>КодСтраны</a:t>
            </a:r>
            <a:r>
              <a:rPr lang="ru-RU" sz="2800" dirty="0"/>
              <a:t>, </a:t>
            </a:r>
            <a:r>
              <a:rPr lang="ru-RU" sz="2800" dirty="0" err="1"/>
              <a:t>ДатаОтправления</a:t>
            </a:r>
            <a:r>
              <a:rPr lang="ru-RU" sz="2800" dirty="0"/>
              <a:t>, </a:t>
            </a:r>
            <a:r>
              <a:rPr lang="ru-RU" sz="2800" dirty="0" err="1"/>
              <a:t>КоличествоДней</a:t>
            </a:r>
            <a:r>
              <a:rPr lang="ru-RU" sz="2800" dirty="0"/>
              <a:t>, Цена, Скидка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dirty="0"/>
              <a:t>Связи между таблицами обеспечивают непротиворечивость данных и позволяют строить гибкие запросы с объединением сущностей.</a:t>
            </a:r>
          </a:p>
          <a:p>
            <a:endParaRPr lang="en-US" sz="2800" dirty="0"/>
          </a:p>
        </p:txBody>
      </p:sp>
      <p:sp>
        <p:nvSpPr>
          <p:cNvPr id="8" name="AutoShape 2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645B049-04D1-411D-8ED8-1FBA1EA26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Интерфейса Пользователя</a:t>
            </a:r>
            <a:br>
              <a:rPr lang="ru-RU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256412-3455-4DD0-8EAD-7CE93387D18B}"/>
              </a:ext>
            </a:extLst>
          </p:cNvPr>
          <p:cNvSpPr/>
          <p:nvPr/>
        </p:nvSpPr>
        <p:spPr>
          <a:xfrm>
            <a:off x="121920" y="644429"/>
            <a:ext cx="1164336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800" b="1" dirty="0" smtClean="0"/>
              <a:t> </a:t>
            </a:r>
            <a:r>
              <a:rPr lang="ru-RU" sz="2800" b="1" dirty="0"/>
              <a:t>Главная форма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dirty="0"/>
              <a:t>Кнопочная навигация по разделам: Клиенты, Путёвки, Страны, Отчёты. Обеспечивает быстрый доступ к любому модулю системы.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b="1" dirty="0" smtClean="0"/>
              <a:t> </a:t>
            </a:r>
            <a:r>
              <a:rPr lang="ru-RU" sz="2800" b="1" dirty="0"/>
              <a:t>Формы ввода данных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dirty="0"/>
              <a:t>Интуитивные формы для каждой таблицы. Форма «Клиент» включает поля: ФИО, Адрес, Телефон, Дата рождения.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b="1" dirty="0" smtClean="0"/>
              <a:t>Конструктор </a:t>
            </a:r>
            <a:r>
              <a:rPr lang="ru-RU" sz="2800" b="1" dirty="0"/>
              <a:t>отчётов</a:t>
            </a:r>
          </a:p>
          <a:p>
            <a:pPr indent="450000" algn="just">
              <a:lnSpc>
                <a:spcPct val="150000"/>
              </a:lnSpc>
            </a:pPr>
            <a:r>
              <a:rPr lang="ru-RU" sz="2800" dirty="0"/>
              <a:t>Гибкая настройка выходных документов с помощью встроенного конструктора форм и шаблонов отчётов.</a:t>
            </a:r>
          </a:p>
          <a:p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733A4-DCDF-45CD-8280-4F70FE41DC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59" t="19464" r="10043" b="8434"/>
          <a:stretch/>
        </p:blipFill>
        <p:spPr>
          <a:xfrm>
            <a:off x="7676210" y="4354773"/>
            <a:ext cx="4342014" cy="206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5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6B917F-7235-44A7-AA04-340D0C2BD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A5D08D4-96A7-43E9-AF09-BCABC86D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E0564-FBCC-41E7-92FD-11AD693D1D41}"/>
              </a:ext>
            </a:extLst>
          </p:cNvPr>
          <p:cNvSpPr txBox="1"/>
          <p:nvPr/>
        </p:nvSpPr>
        <p:spPr>
          <a:xfrm>
            <a:off x="4602480" y="5501532"/>
            <a:ext cx="2846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Рисунок 1 – Интерфейс.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2414745" y="1431272"/>
            <a:ext cx="7656717" cy="38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44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3E23DE6C-5316-47AB-90EC-506DF0E02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02" y="768749"/>
            <a:ext cx="11508278" cy="4912070"/>
          </a:xfrm>
        </p:spPr>
        <p:txBody>
          <a:bodyPr>
            <a:normAutofit/>
          </a:bodyPr>
          <a:lstStyle/>
          <a:p>
            <a:pPr indent="450000" algn="just">
              <a:lnSpc>
                <a:spcPct val="140000"/>
              </a:lnSpc>
              <a:spcBef>
                <a:spcPts val="0"/>
              </a:spcBef>
            </a:pPr>
            <a:r>
              <a:rPr lang="ru-RU" sz="2200" dirty="0"/>
              <a:t>Было проведено несколько тестирований программы. Таких как:</a:t>
            </a:r>
          </a:p>
          <a:p>
            <a:pPr indent="450000" algn="just">
              <a:lnSpc>
                <a:spcPct val="140000"/>
              </a:lnSpc>
              <a:spcBef>
                <a:spcPts val="0"/>
              </a:spcBef>
            </a:pPr>
            <a:endParaRPr lang="ru-RU" sz="2200" dirty="0"/>
          </a:p>
          <a:p>
            <a:pPr indent="450000" algn="just">
              <a:lnSpc>
                <a:spcPct val="140000"/>
              </a:lnSpc>
              <a:spcBef>
                <a:spcPts val="0"/>
              </a:spcBef>
            </a:pPr>
            <a:r>
              <a:rPr lang="ru-RU" sz="2200" dirty="0"/>
              <a:t>Тестирование </a:t>
            </a:r>
          </a:p>
          <a:p>
            <a:pPr indent="450000" algn="just">
              <a:lnSpc>
                <a:spcPct val="140000"/>
              </a:lnSpc>
              <a:spcBef>
                <a:spcPts val="0"/>
              </a:spcBef>
            </a:pPr>
            <a:r>
              <a:rPr lang="ru-RU" sz="2200" dirty="0"/>
              <a:t>на корректную работу</a:t>
            </a:r>
          </a:p>
          <a:p>
            <a:pPr indent="450000" algn="just">
              <a:lnSpc>
                <a:spcPct val="140000"/>
              </a:lnSpc>
              <a:spcBef>
                <a:spcPts val="0"/>
              </a:spcBef>
            </a:pPr>
            <a:r>
              <a:rPr lang="ru-RU" sz="2200" dirty="0"/>
              <a:t>приложения.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857F35-170E-4613-93E0-C08F90B84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306C402-B14F-4C07-813F-A198AE6B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0D222-ED16-492F-9B1D-0ADB9C444655}"/>
              </a:ext>
            </a:extLst>
          </p:cNvPr>
          <p:cNvSpPr txBox="1"/>
          <p:nvPr/>
        </p:nvSpPr>
        <p:spPr>
          <a:xfrm>
            <a:off x="6249380" y="5944712"/>
            <a:ext cx="473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Рисунок 2 – Корректные данные.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5321617" y="1449977"/>
            <a:ext cx="6147572" cy="449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89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F53FC211-D04C-45EA-A6D1-8D3DC6E15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48" y="1201861"/>
            <a:ext cx="11493732" cy="1066048"/>
          </a:xfrm>
        </p:spPr>
        <p:txBody>
          <a:bodyPr/>
          <a:lstStyle/>
          <a:p>
            <a:r>
              <a:rPr lang="ru-RU" dirty="0"/>
              <a:t>2) Тестирование при некорректно введенных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9A48EC-A524-46BF-93D1-47DAFF18B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44015649-5F95-463A-97AE-8AD861C8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E414CEB-396B-4BCB-B302-75A29380E122}"/>
              </a:ext>
            </a:extLst>
          </p:cNvPr>
          <p:cNvSpPr/>
          <p:nvPr/>
        </p:nvSpPr>
        <p:spPr>
          <a:xfrm>
            <a:off x="4470140" y="6116139"/>
            <a:ext cx="3598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Рисунок 3– Некорректные данные.</a:t>
            </a:r>
          </a:p>
        </p:txBody>
      </p:sp>
      <p:sp>
        <p:nvSpPr>
          <p:cNvPr id="8" name="AutoShape 2" descr="blob:https://outlook.cloud.microsoft/a32a936b-5fe4-44b3-a88d-8aa800044f4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337" y="1953485"/>
            <a:ext cx="5526343" cy="37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F32F802-B3A0-404A-B7FB-BA0D6E637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232698"/>
            <a:ext cx="6172200" cy="553073"/>
          </a:xfrm>
        </p:spPr>
        <p:txBody>
          <a:bodyPr/>
          <a:lstStyle/>
          <a:p>
            <a:r>
              <a:rPr lang="ru-RU" dirty="0"/>
              <a:t>3) Все поля пустые.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F608B2-9977-40D4-A903-B7A1A0686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5FBACD0-35F5-4DD6-9C92-EA0DEE294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F96F6-D3EA-410A-9B67-2124ABAC0878}"/>
              </a:ext>
            </a:extLst>
          </p:cNvPr>
          <p:cNvSpPr txBox="1"/>
          <p:nvPr/>
        </p:nvSpPr>
        <p:spPr>
          <a:xfrm>
            <a:off x="6497955" y="5944712"/>
            <a:ext cx="4732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Рисунок 4 – Пустые поля.</a:t>
            </a:r>
          </a:p>
        </p:txBody>
      </p:sp>
      <p:sp>
        <p:nvSpPr>
          <p:cNvPr id="3" name="AutoShape 2" descr="blob:https://outlook.cloud.microsoft/06b0792d-cff8-43ec-a4bf-9bd174bcf6f1"/>
          <p:cNvSpPr>
            <a:spLocks noChangeAspect="1" noChangeArrowheads="1"/>
          </p:cNvSpPr>
          <p:nvPr/>
        </p:nvSpPr>
        <p:spPr bwMode="auto">
          <a:xfrm>
            <a:off x="426720" y="-40572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blob:https://outlook.cloud.microsoft/06b0792d-cff8-43ec-a4bf-9bd174bcf6f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9348" y="1140665"/>
            <a:ext cx="5477691" cy="472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08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F6167DC4-6DC1-446D-B0EC-7FE99A04F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396855"/>
            <a:ext cx="11508278" cy="4669536"/>
          </a:xfrm>
        </p:spPr>
        <p:txBody>
          <a:bodyPr>
            <a:normAutofit fontScale="70000" lnSpcReduction="20000"/>
          </a:bodyPr>
          <a:lstStyle/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 smtClean="0"/>
              <a:t>Эффективность</a:t>
            </a:r>
            <a:endParaRPr lang="ru-RU" b="1" dirty="0"/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Повышение производительности сотрудников агентства за счёт автоматизации рутинных операций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Трудозатраты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Снижение ручного труда при оформлении путёвок, ведении клиентской базы и составлении отчётов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b="1" dirty="0"/>
              <a:t>Сервис</a:t>
            </a:r>
          </a:p>
          <a:p>
            <a:pPr indent="450000" algn="just">
              <a:lnSpc>
                <a:spcPct val="160000"/>
              </a:lnSpc>
              <a:spcBef>
                <a:spcPts val="0"/>
              </a:spcBef>
            </a:pPr>
            <a:r>
              <a:rPr lang="ru-RU" dirty="0"/>
              <a:t>Улучшение качества обслуживания клиентов благодаря быстрому доступу к актуальным данным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1A602A-63FE-4697-864A-23FA01CFF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03D75F-3C8C-4373-9499-703616C11FAA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F8DCAA2-0589-4E47-A1AA-FB988897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Заключение: Преимущества Разработанной Системы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7944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31B465E-472F-405E-B23E-799638FD1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042" y="2125288"/>
            <a:ext cx="10961915" cy="3211286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75887A-822C-4AA4-934A-DA397BC483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9850"/>
            <a:ext cx="2743200" cy="365125"/>
          </a:xfrm>
        </p:spPr>
        <p:txBody>
          <a:bodyPr/>
          <a:lstStyle/>
          <a:p>
            <a:fld id="{9703D75F-3C8C-4373-9499-703616C11FAA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68482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урк">
      <a:dk1>
        <a:srgbClr val="000000"/>
      </a:dk1>
      <a:lt1>
        <a:sysClr val="window" lastClr="FFFFFF"/>
      </a:lt1>
      <a:dk2>
        <a:srgbClr val="005AAA"/>
      </a:dk2>
      <a:lt2>
        <a:srgbClr val="F0F5FF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82D7D7"/>
      </a:hlink>
      <a:folHlink>
        <a:srgbClr val="144140"/>
      </a:folHlink>
    </a:clrScheme>
    <a:fontScheme name="Другая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</TotalTime>
  <Words>370</Words>
  <Application>Microsoft Office PowerPoint</Application>
  <PresentationFormat>Широкоэкранный</PresentationFormat>
  <Paragraphs>66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Тема Office</vt:lpstr>
      <vt:lpstr>Курсовая работа по теме: «Разработка программного обеспечения «Туристические путевки»</vt:lpstr>
      <vt:lpstr>Введение: Актуальность и Цели Проекта  </vt:lpstr>
      <vt:lpstr>Анализ Предметной Области</vt:lpstr>
      <vt:lpstr>Проектирование Базы Данных </vt:lpstr>
      <vt:lpstr>Разработка Интерфейса Пользователя </vt:lpstr>
      <vt:lpstr>Интерфейс.</vt:lpstr>
      <vt:lpstr>Тестирование.</vt:lpstr>
      <vt:lpstr>Тестирование.</vt:lpstr>
      <vt:lpstr>Тестирование.</vt:lpstr>
      <vt:lpstr>Заключение: Преимущества Разработанной Системы</vt:lpstr>
      <vt:lpstr>СПАСИБО ЗА ВНИМАНИЕ!</vt:lpstr>
    </vt:vector>
  </TitlesOfParts>
  <Company>inueco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Юлия Владиславовна Гриценко</dc:creator>
  <cp:lastModifiedBy>79512478239</cp:lastModifiedBy>
  <cp:revision>38</cp:revision>
  <dcterms:created xsi:type="dcterms:W3CDTF">2021-01-21T04:43:00Z</dcterms:created>
  <dcterms:modified xsi:type="dcterms:W3CDTF">2026-04-12T20:08:36Z</dcterms:modified>
</cp:coreProperties>
</file>